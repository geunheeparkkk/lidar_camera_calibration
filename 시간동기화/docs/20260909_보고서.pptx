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C7A72"/>
                </a:solidFill>
                <a:latin typeface="DejaVu Sans Mono"/>
              </a:rPr>
              <a:t>2026-09-09   ·   ~/ros2_ws/cam_lidar_recording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4203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11A1B"/>
                </a:solidFill>
                <a:latin typeface="Noto Sans CJK KR"/>
              </a:rPr>
              <a:t>카메라·라이다 동기 녹화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1188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E6D6E"/>
                </a:solidFill>
                <a:latin typeface="Noto Sans CJK KR"/>
              </a:rPr>
              <a:t>Velodyne VLP-16과 Daheng 산업용 카메라를 ESP32 하드웨어 트리거로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5E6D6E"/>
                </a:solidFill>
                <a:latin typeface="Noto Sans CJK KR"/>
              </a:rPr>
              <a:t>묶어 한 세션으로 수집하고 rosbag2로 변환하는 파이프라인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892040"/>
            <a:ext cx="1063721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5056632"/>
            <a:ext cx="229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8B9899"/>
                </a:solidFill>
                <a:latin typeface="DejaVu Sans Mono"/>
              </a:rPr>
              <a:t>하드웨어 동기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5285232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1A1B"/>
                </a:solidFill>
                <a:latin typeface="DejaVu Sans Mono"/>
              </a:rPr>
              <a:t>PPS 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2575" y="5056632"/>
            <a:ext cx="229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8B9899"/>
                </a:solidFill>
                <a:latin typeface="DejaVu Sans Mono"/>
              </a:rPr>
              <a:t>표류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2575" y="5285232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1A1B"/>
                </a:solidFill>
                <a:latin typeface="DejaVu Sans Mono"/>
              </a:rPr>
              <a:t>19시간 / 1프레임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36543" y="4983480"/>
            <a:ext cx="0" cy="64008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51879" y="5056632"/>
            <a:ext cx="229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8B9899"/>
                </a:solidFill>
                <a:latin typeface="DejaVu Sans Mono"/>
              </a:rPr>
              <a:t>패킷 유실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5285232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1A1B"/>
                </a:solidFill>
                <a:latin typeface="DejaVu Sans Mono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4983480"/>
            <a:ext cx="0" cy="64008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11183" y="5056632"/>
            <a:ext cx="2293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8B9899"/>
                </a:solidFill>
                <a:latin typeface="DejaVu Sans Mono"/>
              </a:rPr>
              <a:t>녹화 세션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1183" y="5285232"/>
            <a:ext cx="2293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1A1B"/>
                </a:solidFill>
                <a:latin typeface="DejaVu Sans Mono"/>
              </a:rPr>
              <a:t>4개 · 1.6 GB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55151" y="4983480"/>
            <a:ext cx="0" cy="64008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C7A72"/>
                </a:solidFill>
                <a:latin typeface="DejaVu Sans Mono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A1B"/>
                </a:solidFill>
                <a:latin typeface="Noto Sans CJK KR"/>
              </a:rPr>
              <a:t>빈 폴더에서 하드웨어 시각 동기까지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E6D6E"/>
                </a:solidFill>
                <a:latin typeface="Noto Sans CJK KR"/>
              </a:rPr>
              <a:t>카메라 수집은 daheng_ws_1 에 이미 완성되어 있었고, 세션 구조에 lidar.pcap 자리만 주석으로 비어 있었다. 그 자리를 채우는 것에서 시작해 두 센서를 하나의 시계 위에 올렸다.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93976"/>
            <a:ext cx="33933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40864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C7A72"/>
                </a:solidFill>
                <a:latin typeface="DejaVu Sans Mono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71216"/>
            <a:ext cx="2936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11A1B"/>
                </a:solidFill>
                <a:latin typeface="Noto Sans CJK KR"/>
              </a:rPr>
              <a:t>파이썬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72968"/>
            <a:ext cx="29361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수집·디코딩·검산·변환·시각화. 약 2,900줄.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기존 파일은 하나도 고치지 않고 재사용.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9178" y="2093976"/>
            <a:ext cx="33933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498" y="2340864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C7A72"/>
                </a:solidFill>
                <a:latin typeface="DejaVu Sans Mono"/>
              </a:rPr>
              <a:t>0.0000°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2871216"/>
            <a:ext cx="2936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11A1B"/>
                </a:solidFill>
                <a:latin typeface="Noto Sans CJK KR"/>
              </a:rPr>
              <a:t>링 고도각 오차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172968"/>
            <a:ext cx="29361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VLP-16 디코더를 직접 구현. 16채널 전부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사양과 정확히 일치.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1116" y="2093976"/>
            <a:ext cx="33933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5436" y="2340864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C7A72"/>
                </a:solidFill>
                <a:latin typeface="DejaVu Sans Mono"/>
              </a:rPr>
              <a:t>8건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871216"/>
            <a:ext cx="29361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11A1B"/>
                </a:solidFill>
                <a:latin typeface="Noto Sans CJK KR"/>
              </a:rPr>
              <a:t>고친 결함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3172968"/>
            <a:ext cx="29361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대부분 조용히 틀리는 유형.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예외 없이 그럴듯한 값을 내놓는 것들.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C7A72"/>
                </a:solidFill>
                <a:latin typeface="DejaVu Sans Mono"/>
              </a:rPr>
              <a:t>시스템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A1B"/>
                </a:solidFill>
                <a:latin typeface="Noto Sans CJK KR"/>
              </a:rPr>
              <a:t>하나의 타이머가 두 센서를 동시에 물린다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18488"/>
            <a:ext cx="10637215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2304288"/>
            <a:ext cx="1737360" cy="1645920"/>
          </a:xfrm>
          <a:prstGeom prst="rect">
            <a:avLst/>
          </a:prstGeom>
          <a:solidFill>
            <a:srgbClr val="F4F6F6"/>
          </a:solidFill>
          <a:ln w="12700">
            <a:solidFill>
              <a:srgbClr val="111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700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11A1B"/>
                </a:solidFill>
                <a:latin typeface="DejaVu Sans Mono"/>
              </a:rPr>
              <a:t>ESP32-S3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35808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5E6D6E"/>
                </a:solidFill>
                <a:latin typeface="Noto Sans CJK KR"/>
              </a:rPr>
              <a:t>esp_timer 하나에서</a:t>
            </a:r>
          </a:p>
          <a:p>
            <a:pPr algn="ctr">
              <a:lnSpc>
                <a:spcPct val="125000"/>
              </a:lnSpc>
            </a:pPr>
            <a:r>
              <a:rPr sz="950" b="0">
                <a:solidFill>
                  <a:srgbClr val="5E6D6E"/>
                </a:solidFill>
                <a:latin typeface="Noto Sans CJK KR"/>
              </a:rPr>
              <a:t>두 신호가 함께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670048"/>
            <a:ext cx="1371600" cy="0"/>
          </a:xfrm>
          <a:prstGeom prst="line">
            <a:avLst/>
          </a:prstGeom>
          <a:ln w="13970">
            <a:solidFill>
              <a:srgbClr val="111A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17520" y="23682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111A1B"/>
                </a:solidFill>
                <a:latin typeface="DejaVu Sans Mono"/>
              </a:rPr>
              <a:t>FSYNC 10 Hz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5856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45973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11A1B"/>
                </a:solidFill>
                <a:latin typeface="DejaVu Sans Mono"/>
              </a:rPr>
              <a:t>MER2-240-159U3C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752344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5E6D6E"/>
                </a:solidFill>
                <a:latin typeface="Noto Sans CJK KR"/>
              </a:rPr>
              <a:t>Line0 트리거 · 2048×1200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6080" y="3538728"/>
            <a:ext cx="548640" cy="0"/>
          </a:xfrm>
          <a:prstGeom prst="line">
            <a:avLst/>
          </a:prstGeom>
          <a:ln w="13970">
            <a:solidFill>
              <a:srgbClr val="111A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11880" y="3282696"/>
            <a:ext cx="1234440" cy="566928"/>
          </a:xfrm>
          <a:prstGeom prst="rect">
            <a:avLst/>
          </a:prstGeom>
          <a:solidFill>
            <a:srgbClr val="D7EBE8"/>
          </a:solidFill>
          <a:ln w="12700">
            <a:solidFill>
              <a:srgbClr val="0C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4015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0C7A72"/>
                </a:solidFill>
                <a:latin typeface="DejaVu Sans Mono"/>
              </a:rPr>
              <a:t>74AHCT125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1188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0C7A72"/>
                </a:solidFill>
                <a:latin typeface="DejaVu Sans Mono"/>
              </a:rPr>
              <a:t>3.3→5V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6320" y="3538728"/>
            <a:ext cx="548639" cy="0"/>
          </a:xfrm>
          <a:prstGeom prst="line">
            <a:avLst/>
          </a:prstGeom>
          <a:ln w="13970">
            <a:solidFill>
              <a:srgbClr val="111A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00600" y="324612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111A1B"/>
                </a:solidFill>
                <a:latin typeface="DejaVu Sans Mono"/>
              </a:rPr>
              <a:t>1 PPS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315468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59" y="335584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11A1B"/>
                </a:solidFill>
                <a:latin typeface="DejaVu Sans Mono"/>
              </a:rPr>
              <a:t>Velodyne VLP-16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364845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5E6D6E"/>
                </a:solidFill>
                <a:latin typeface="Noto Sans CJK KR"/>
              </a:rPr>
              <a:t>Phase Lock 0° · 600 rpm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86600" y="2670048"/>
            <a:ext cx="1554480" cy="0"/>
          </a:xfrm>
          <a:prstGeom prst="line">
            <a:avLst/>
          </a:prstGeom>
          <a:ln w="13970">
            <a:solidFill>
              <a:srgbClr val="111A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83879" y="3584448"/>
            <a:ext cx="457201" cy="0"/>
          </a:xfrm>
          <a:prstGeom prst="line">
            <a:avLst/>
          </a:prstGeom>
          <a:ln w="13970">
            <a:solidFill>
              <a:srgbClr val="111A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41080" y="2670048"/>
            <a:ext cx="0" cy="914400"/>
          </a:xfrm>
          <a:prstGeom prst="line">
            <a:avLst/>
          </a:prstGeom>
          <a:ln w="13970">
            <a:solidFill>
              <a:srgbClr val="111A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41080" y="3127248"/>
            <a:ext cx="548639" cy="0"/>
          </a:xfrm>
          <a:prstGeom prst="line">
            <a:avLst/>
          </a:prstGeom>
          <a:ln w="13970">
            <a:solidFill>
              <a:srgbClr val="111A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326880" y="2670048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2852928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11A1B"/>
                </a:solidFill>
                <a:latin typeface="Noto Sans CJK KR"/>
              </a:rPr>
              <a:t>호스트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3136391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E6D6E"/>
                </a:solidFill>
                <a:latin typeface="DejaVu Sans Mono"/>
              </a:rPr>
              <a:t>session_NNN/</a:t>
            </a:r>
          </a:p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E6D6E"/>
                </a:solidFill>
                <a:latin typeface="DejaVu Sans Mono"/>
              </a:rPr>
              <a:t>cam3 · lidar.pcap · mcu_log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1888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E6D6E"/>
                </a:solidFill>
                <a:latin typeface="Noto Sans CJK KR"/>
              </a:rPr>
              <a:t>핵심은 왼쪽이다. 카메라 셔터를 여는 FSYNC와 라이다 위상을 잡는 1PPS가 같은 타이머에서 나온다.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E6D6E"/>
                </a:solidFill>
                <a:latin typeface="Noto Sans CJK KR"/>
              </a:rPr>
              <a:t>그래서 Phase Lock이 걸리는 순간 두 센서가 한 시계 위에 놓인다.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C7A72"/>
                </a:solidFill>
                <a:latin typeface="DejaVu Sans Mono"/>
              </a:rPr>
              <a:t>만든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A1B"/>
                </a:solidFill>
                <a:latin typeface="Noto Sans CJK KR"/>
              </a:rPr>
              <a:t>파이썬 도구 8개 · 약 2,900줄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240842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5666" y="1481328"/>
            <a:ext cx="7024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8123" y="1481328"/>
            <a:ext cx="75263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역할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773936"/>
            <a:ext cx="10637215" cy="0"/>
          </a:xfrm>
          <a:prstGeom prst="line">
            <a:avLst/>
          </a:prstGeom>
          <a:ln w="9525">
            <a:solidFill>
              <a:srgbClr val="DA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1865376"/>
            <a:ext cx="240842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record.py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5666" y="1865376"/>
            <a:ext cx="70245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602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8123" y="1865376"/>
            <a:ext cx="75263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수집 오케스트레이션. MCU 핸드셰이크 + 카메라 + 라이다를 한 세션으로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167128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249424"/>
            <a:ext cx="240842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lidar_capture.py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5666" y="2249424"/>
            <a:ext cx="70245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428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8123" y="2249424"/>
            <a:ext cx="75263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Velodyne UDP → pcap. 권한 없이 동작 (tcpdump 불필요)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2551176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2633472"/>
            <a:ext cx="240842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vlp16.py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5666" y="2633472"/>
            <a:ext cx="70245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375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8123" y="2633472"/>
            <a:ext cx="75263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VLP-16 디코더. numpy 벡터화, 방위각 보간 포함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2935224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3017520"/>
            <a:ext cx="240842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check_session.py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5666" y="3017520"/>
            <a:ext cx="70245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384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8123" y="3017520"/>
            <a:ext cx="75263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세션 검산. 카메라 · MCU · 라이다를 한 번에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3319272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401568"/>
            <a:ext cx="240842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preview_session.py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5666" y="3401568"/>
            <a:ext cx="70245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343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8123" y="3401568"/>
            <a:ext cx="75263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PNG / GIF / MP4 시각화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3703320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3785615"/>
            <a:ext cx="240842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to_rosbag.py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5666" y="3785615"/>
            <a:ext cx="70245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309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8123" y="3785615"/>
            <a:ext cx="75263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세션 → rosbag2 (/velodyne_points, /cam&lt;N&gt;/image_raw)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240" y="4087368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" y="4169663"/>
            <a:ext cx="240842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lidar_config.py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85666" y="4169663"/>
            <a:ext cx="70245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274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8123" y="4169663"/>
            <a:ext cx="75263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라이다 설정 조회 · Phase Lock · PPS 실시간 감시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4471416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7240" y="4553712"/>
            <a:ext cx="240842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sync_report.py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5666" y="4553712"/>
            <a:ext cx="70245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182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8123" y="4553712"/>
            <a:ext cx="75263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카메라↔라이다 주파수 · 위상 · 표류 측정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77240" y="4855464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5166359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E6D6E"/>
                </a:solidFill>
                <a:latin typeface="Noto Sans CJK KR"/>
              </a:rPr>
              <a:t>ESP32 스케치 사본 2개도 만들었다. method2_gprmc_pps_inverted (PPS 극성 반전 — 반전 회로용)와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E6D6E"/>
                </a:solidFill>
                <a:latin typeface="Noto Sans CJK KR"/>
              </a:rPr>
              <a:t>method2_pps_level_diag (50% 사각파 + 고정 레벨 모드 — 멀티미터 측정용). 원본 스케치는 손대지 않았다.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C7A72"/>
                </a:solidFill>
                <a:latin typeface="DejaVu Sans Mono"/>
              </a:rPr>
              <a:t>검증된 수치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A1B"/>
                </a:solidFill>
                <a:latin typeface="Noto Sans CJK KR"/>
              </a:rPr>
              <a:t>측정으로 확인한 것만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27048"/>
            <a:ext cx="2751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8243" y="1527048"/>
            <a:ext cx="2751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9247" y="1527048"/>
            <a:ext cx="51352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확인 방법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819655"/>
            <a:ext cx="10637215" cy="0"/>
          </a:xfrm>
          <a:prstGeom prst="line">
            <a:avLst/>
          </a:prstGeom>
          <a:ln w="9525">
            <a:solidFill>
              <a:srgbClr val="DA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1911095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링 고도각 오차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8243" y="1911095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0.0000°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9247" y="1911095"/>
            <a:ext cx="5135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16채널 전부, 사양 대조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286000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3682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회전 주기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8243" y="23682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100.00 ± 0.03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9247" y="2368296"/>
            <a:ext cx="5135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= 10.000 Hz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2743200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28254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라이다 패킷 유실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8243" y="28254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9247" y="2825496"/>
            <a:ext cx="5135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라이다 자체 타임스탬프 기준, 4세션 전부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3200400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32826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카메라 프레임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8243" y="32826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201 / 201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9247" y="3282696"/>
            <a:ext cx="5135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FrameID 끊김 0, SDK lost 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3657600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7398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디코딩 속도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8243" y="37398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2.85 M점 / 0.31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9247" y="3739896"/>
            <a:ext cx="5135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numpy 벡터화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4114800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1970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pcap 호환성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243" y="41970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tcpdump 통과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9247" y="4197096"/>
            <a:ext cx="5135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IP · 포트 · 길이 정확, 체크섬 경고 없음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240" y="4572000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" y="46542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rosbag2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243" y="4654296"/>
            <a:ext cx="27510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DejaVu Sans Mono"/>
              </a:rPr>
              <a:t>10.00 Hz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9247" y="4654296"/>
            <a:ext cx="5135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ros2 bag info · 역직렬화 검증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5029200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C7A72"/>
                </a:solidFill>
                <a:latin typeface="DejaVu Sans Mono"/>
              </a:rPr>
              <a:t>동기화 ①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A1B"/>
                </a:solidFill>
                <a:latin typeface="Noto Sans CJK KR"/>
              </a:rPr>
              <a:t>주파수는 이미 맞아 있었다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27048"/>
            <a:ext cx="10637215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29970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8B9899"/>
                </a:solidFill>
                <a:latin typeface="DejaVu Sans Mono"/>
              </a:rPr>
              <a:t>카메라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29970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11A1B"/>
                </a:solidFill>
                <a:latin typeface="DejaVu Sans Mono"/>
              </a:rPr>
              <a:t>10.000020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3018" y="1755648"/>
            <a:ext cx="29970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8B9899"/>
                </a:solidFill>
                <a:latin typeface="DejaVu Sans Mono"/>
              </a:rPr>
              <a:t>라이다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3018" y="2011680"/>
            <a:ext cx="29970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11A1B"/>
                </a:solidFill>
                <a:latin typeface="DejaVu Sans Mono"/>
              </a:rPr>
              <a:t>9.999990 Hz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22978" y="1618488"/>
            <a:ext cx="0" cy="86868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88756" y="1755648"/>
            <a:ext cx="29970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8B9899"/>
                </a:solidFill>
                <a:latin typeface="DejaVu Sans Mono"/>
              </a:rPr>
              <a:t>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8756" y="2011680"/>
            <a:ext cx="29970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0C7A72"/>
                </a:solidFill>
                <a:latin typeface="DejaVu Sans Mono"/>
              </a:rPr>
              <a:t>3 ppm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8716" y="1618488"/>
            <a:ext cx="0" cy="86868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852928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맞지 않는 것은 위상이었다.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카메라 셔터가 라이다 회전 시작보다 72.2 ms 뒤에 열렸고, 그 간격이 −0.057 ms/s 로 계속 움직였다.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29분마다 한 프레임씩 밀리는 속도다. 20초 세션에서는 무시할 만하지만, 긴 녹화나 세션을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이어 붙이는 작업에서는 짝짓기를 시각으로 다시 해야 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C7A72"/>
                </a:solidFill>
                <a:latin typeface="DejaVu Sans Mono"/>
              </a:rPr>
              <a:t>동기화 ②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A1B"/>
                </a:solidFill>
                <a:latin typeface="Noto Sans CJK KR"/>
              </a:rPr>
              <a:t>막고 있던 것은 배선이 아니라 순서였다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7393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11A1B"/>
                </a:solidFill>
                <a:latin typeface="Noto Sans CJK KR"/>
              </a:rPr>
              <a:t>확인한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773936"/>
            <a:ext cx="81683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E6D6E"/>
                </a:solidFill>
                <a:latin typeface="Noto Sans CJK KR"/>
              </a:rPr>
              <a:t>ESP32는 정확한 1초 간격으로 펄스를 내보내고 있었다 (시리얼 로그).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E6D6E"/>
                </a:solidFill>
                <a:latin typeface="Noto Sans CJK KR"/>
              </a:rPr>
              <a:t>GND도 잡혀 있었다. 그런데 라이다는 pps_state = Absent.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79776"/>
            <a:ext cx="10637215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8094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11A1B"/>
                </a:solidFill>
                <a:latin typeface="Noto Sans CJK KR"/>
              </a:rPr>
              <a:t>설계한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980944"/>
            <a:ext cx="81683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E6D6E"/>
                </a:solidFill>
                <a:latin typeface="Noto Sans CJK KR"/>
              </a:rPr>
              <a:t>3.3V GPIO 직결로는 레벨이 부족하다고 보고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E6D6E"/>
                </a:solidFill>
                <a:latin typeface="Noto Sans CJK KR"/>
              </a:rPr>
              <a:t>74AHCT125 비반전 5V 버퍼를 설계했다.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86784"/>
            <a:ext cx="10637215" cy="1051560"/>
          </a:xfrm>
          <a:prstGeom prst="rect">
            <a:avLst/>
          </a:prstGeom>
          <a:solidFill>
            <a:srgbClr val="FFFFFF"/>
          </a:solidFill>
          <a:ln w="20320">
            <a:solidFill>
              <a:srgbClr val="0C7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8795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C7A72"/>
                </a:solidFill>
                <a:latin typeface="Noto Sans CJK KR"/>
              </a:rPr>
              <a:t>실제 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187952"/>
            <a:ext cx="81683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버퍼를 넣어도 Absent였다. 라이다가 켜진 상태에서 PPS 선을 물린 것이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A1B"/>
                </a:solidFill>
                <a:latin typeface="Noto Sans CJK KR"/>
              </a:rPr>
              <a:t>원인이었다. 전원을 내렸다 올리자 즉시 Locked.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8523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11A1B"/>
                </a:solidFill>
                <a:latin typeface="Noto Sans CJK KR"/>
              </a:rPr>
              <a:t>이후 풀업 저항을 바꾸면서 같은 증상이 재현되어 원인이 확정되었다. 이 회로를 만질 때는 라이다 전원을 먼저 내려야 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C7A72"/>
                </a:solidFill>
                <a:latin typeface="DejaVu Sans Mono"/>
              </a:rPr>
              <a:t>동기화 ③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A1B"/>
                </a:solidFill>
                <a:latin typeface="Noto Sans CJK KR"/>
              </a:rPr>
              <a:t>Phase Lock 전 / 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385140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28645" y="1618488"/>
            <a:ext cx="33012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PHASE LOCK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9850" y="1618488"/>
            <a:ext cx="34846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911095"/>
            <a:ext cx="10637215" cy="0"/>
          </a:xfrm>
          <a:prstGeom prst="line">
            <a:avLst/>
          </a:prstGeom>
          <a:ln w="9525">
            <a:solidFill>
              <a:srgbClr val="DA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2002536"/>
            <a:ext cx="385140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표류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8645" y="2002536"/>
            <a:ext cx="33012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−0.057 ms/s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9850" y="2002536"/>
            <a:ext cx="34846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C7A72"/>
                </a:solidFill>
                <a:latin typeface="DejaVu Sans Mono"/>
              </a:rPr>
              <a:t>−0.0015 ms/s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487168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569464"/>
            <a:ext cx="385140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한 프레임 밀리기까지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8645" y="2569464"/>
            <a:ext cx="33012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29분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9850" y="2569464"/>
            <a:ext cx="34846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C7A72"/>
                </a:solidFill>
                <a:latin typeface="DejaVu Sans Mono"/>
              </a:rPr>
              <a:t>19시간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054096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3136392"/>
            <a:ext cx="385140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카메라↔라이다 간격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8645" y="3136392"/>
            <a:ext cx="33012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72.2 ms (변동)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9850" y="3136392"/>
            <a:ext cx="34846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C7A72"/>
                </a:solidFill>
                <a:latin typeface="DejaVu Sans Mono"/>
              </a:rPr>
              <a:t>15.0 ms (고정)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3621024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3703320"/>
            <a:ext cx="385140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PPS 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8645" y="3703320"/>
            <a:ext cx="33012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Absent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9850" y="3703320"/>
            <a:ext cx="34846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C7A72"/>
                </a:solidFill>
                <a:latin typeface="DejaVu Sans Mono"/>
              </a:rPr>
              <a:t>Locked (전 구간)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4187952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449884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E6D6E"/>
                </a:solidFill>
                <a:latin typeface="Noto Sans CJK KR"/>
              </a:rPr>
              <a:t>Phase Lock 은 PPS 펄스가 들어오는 순간 라이다가 지정한 방위각을 보고 있도록 회전 위상을 맞춘다.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E6D6E"/>
                </a:solidFill>
                <a:latin typeface="Noto Sans CJK KR"/>
              </a:rPr>
              <a:t>600 rpm 이 정확히 10 Hz 이므로, 한 번 맞으면 그 초 안의 회전 10번이 전부 결정된 시각에 일어난다.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C7A72"/>
                </a:solidFill>
                <a:latin typeface="DejaVu Sans Mono"/>
              </a:rPr>
              <a:t>동기화 ④ 남은 15 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A1B"/>
                </a:solidFill>
                <a:latin typeface="Noto Sans CJK KR"/>
              </a:rPr>
              <a:t>어긋남이 아니라 카메라의 지연이다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3721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2905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B9899"/>
                </a:solidFill>
                <a:latin typeface="DejaVu Sans Mono"/>
              </a:rPr>
              <a:t>노출 8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39696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11A1B"/>
                </a:solidFill>
                <a:latin typeface="DejaVu Sans Mono"/>
              </a:rPr>
              <a:t>간격 15.0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8738" y="1828800"/>
            <a:ext cx="2905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B9899"/>
                </a:solidFill>
                <a:latin typeface="DejaVu Sans Mono"/>
              </a:rPr>
              <a:t>노출 4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8738" y="2139696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11A1B"/>
                </a:solidFill>
                <a:latin typeface="DejaVu Sans Mono"/>
              </a:rPr>
              <a:t>간격 11.1 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22978" y="1682496"/>
            <a:ext cx="0" cy="1170432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34476" y="1828800"/>
            <a:ext cx="2905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B9899"/>
                </a:solidFill>
                <a:latin typeface="DejaVu Sans Mono"/>
              </a:rPr>
              <a:t>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4476" y="2139696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0C7A72"/>
                </a:solidFill>
                <a:latin typeface="DejaVu Sans Mono"/>
              </a:rPr>
              <a:t>3.9 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8716" y="1682496"/>
            <a:ext cx="0" cy="1170432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1729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노출을 절반으로 줄이자 간격이 그만큼 같이 줄었다. 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538728"/>
            <a:ext cx="6949440" cy="566928"/>
          </a:xfrm>
          <a:prstGeom prst="rect">
            <a:avLst/>
          </a:prstGeom>
          <a:solidFill>
            <a:srgbClr val="F4F6F6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69417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11A1B"/>
                </a:solidFill>
                <a:latin typeface="DejaVu Sans Mono"/>
              </a:rPr>
              <a:t>간격 = 노출시간 + 7.1 ms      (센서 읽기 + USB3 2.46 MB 전송)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61688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5E6D6E"/>
                </a:solidFill>
                <a:latin typeface="Noto Sans CJK KR"/>
              </a:rPr>
              <a:t>셔터가 열리는 순간과 라이다가 0°를 지나는 순간은 이미 일치한다.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5E6D6E"/>
                </a:solidFill>
                <a:latin typeface="Noto Sans CJK KR"/>
              </a:rPr>
              <a:t>frames.csv 의 host_recv_unix 가 프레임이 '도착한' 시각이라 그만큼 늦게 찍힐 뿐이고,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5E6D6E"/>
                </a:solidFill>
                <a:latin typeface="Noto Sans CJK KR"/>
              </a:rPr>
              <a:t>결합할 때 이 상수를 빼면 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C7A72"/>
                </a:solidFill>
                <a:latin typeface="DejaVu Sans Mono"/>
              </a:rPr>
              <a:t>찾아 고친 결함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A1B"/>
                </a:solidFill>
                <a:latin typeface="Noto Sans CJK KR"/>
              </a:rPr>
              <a:t>대부분 조용히 틀리는 유형이었다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E6D6E"/>
                </a:solidFill>
                <a:latin typeface="Noto Sans CJK KR"/>
              </a:rPr>
              <a:t>예외를 던지지 않고 그럴듯한 값을 내놓기 때문에, 결과를 믿고 데이터를 버리거나 잘못된 결론에 이르게 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48256"/>
            <a:ext cx="22536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위치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0887" y="2048256"/>
            <a:ext cx="387627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증상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7160" y="2048256"/>
            <a:ext cx="450729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원인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40864"/>
            <a:ext cx="10637215" cy="0"/>
          </a:xfrm>
          <a:prstGeom prst="line">
            <a:avLst/>
          </a:prstGeom>
          <a:ln w="9525">
            <a:solidFill>
              <a:srgbClr val="DA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32304"/>
            <a:ext cx="22536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DejaVu Sans Mono"/>
              </a:rPr>
              <a:t>check_session.py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0887" y="2432304"/>
            <a:ext cx="387627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유실 0인 세션을 245개 유실로 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7160" y="2432304"/>
            <a:ext cx="45072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패킷 시각을 [::384]로 뽑았는데 그 배열은 거리 0인 점을 걸러낸 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752344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834640"/>
            <a:ext cx="22536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DejaVu Sans Mono"/>
              </a:rPr>
              <a:t>check_session.py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0887" y="2834640"/>
            <a:ext cx="387627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유실 0인데 '수신 구멍 7곳'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7160" y="2834640"/>
            <a:ext cx="45072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호스트 도착 시각으로 셈 — 스케줄링 지터를 유실로 오판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3154680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3236976"/>
            <a:ext cx="22536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DejaVu Sans Mono"/>
              </a:rPr>
              <a:t>check_session.py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0887" y="3236976"/>
            <a:ext cx="387627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cam3 세션을 '프레임 없음'으로 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7160" y="3236976"/>
            <a:ext cx="45072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폴더를 cam1부터 순번으로만 탐색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3557016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3639312"/>
            <a:ext cx="22536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DejaVu Sans Mono"/>
              </a:rPr>
              <a:t>lidar_config.py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0887" y="3639312"/>
            <a:ext cx="387627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Phase Lock 각도가 100배 작게 걸림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7160" y="3639312"/>
            <a:ext cx="45072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0.01° 단위인데 도 단위로 전송. 되읽기 확인까지 통과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3959352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4041648"/>
            <a:ext cx="22536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DejaVu Sans Mono"/>
              </a:rPr>
              <a:t>record.py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0887" y="4041648"/>
            <a:ext cx="387627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ESP32 없을 때 /dev/ttyS31을 잡고 죽음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7160" y="4041648"/>
            <a:ext cx="45072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후보 없으면 첫 포트를 그냥 사용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240" y="4361688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" y="4443984"/>
            <a:ext cx="22536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DejaVu Sans Mono"/>
              </a:rPr>
              <a:t>record.py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0887" y="4443984"/>
            <a:ext cx="387627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세션 앞부분이 동기 안 된 채 기록될 수 있음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7160" y="4443984"/>
            <a:ext cx="45072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시리얼을 열면 ESP32가 리셋 — 재잠금을 안 기다림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4764024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4846320"/>
            <a:ext cx="22536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DejaVu Sans Mono"/>
              </a:rPr>
              <a:t>to_rosbag.py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30887" y="4846320"/>
            <a:ext cx="387627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PointCloud2 생성 실패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7160" y="4846320"/>
            <a:ext cx="45072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numpy int64를 메시지 필드에 그대로 전달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240" y="5166360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5248656"/>
            <a:ext cx="22536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DejaVu Sans Mono"/>
              </a:rPr>
              <a:t>preview_session.py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30887" y="5248656"/>
            <a:ext cx="387627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캡션의 한글이 전부 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7160" y="5248656"/>
            <a:ext cx="45072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11A1B"/>
                </a:solidFill>
                <a:latin typeface="Noto Sans CJK KR"/>
              </a:rPr>
              <a:t>OpenCV putText는 한글을 못 그림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7240" y="5568696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77240" y="583387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A5F14"/>
                </a:solidFill>
                <a:latin typeface="Noto Sans CJK KR"/>
              </a:rPr>
              <a:t>추가하신 lidar-pps-gprmc-wiring.md 에서도 하나: PPS 상태 오프셋이 d[0xF4]인데 실제로는 d[0xCA](202)다.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9A5F14"/>
                </a:solidFill>
                <a:latin typeface="Noto Sans CJK KR"/>
              </a:rPr>
              <a:t>지금은 우연히 같은 값이 나오지만, GPRMC가 들어오기 시작하는 순간부터 엉뚱한 값을 읽는다.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C7A72"/>
                </a:solidFill>
                <a:latin typeface="DejaVu Sans Mono"/>
              </a:rPr>
              <a:t>녹화한 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A1B"/>
                </a:solidFill>
                <a:latin typeface="Noto Sans CJK KR"/>
              </a:rPr>
              <a:t>4개 · 1.6 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64208"/>
            <a:ext cx="22008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8043" y="1664208"/>
            <a:ext cx="100870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길이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86744" y="1664208"/>
            <a:ext cx="100870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크기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5446" y="1664208"/>
            <a:ext cx="146720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2648" y="1664208"/>
            <a:ext cx="49518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8B9899"/>
                </a:solidFill>
                <a:latin typeface="DejaVu Sans Mono"/>
              </a:rPr>
              <a:t>비고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1956816"/>
            <a:ext cx="10637215" cy="0"/>
          </a:xfrm>
          <a:prstGeom prst="line">
            <a:avLst/>
          </a:prstGeom>
          <a:ln w="9525">
            <a:solidFill>
              <a:srgbClr val="DA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048256"/>
            <a:ext cx="22008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session_003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8043" y="2048256"/>
            <a:ext cx="100870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6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44" y="2048256"/>
            <a:ext cx="100870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157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5446" y="2048256"/>
            <a:ext cx="14672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5F14"/>
                </a:solidFill>
                <a:latin typeface="DejaVu Sans Mono"/>
              </a:rPr>
              <a:t>Absent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2648" y="2048256"/>
            <a:ext cx="49518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동기 전 비교용 기준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2532888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2615184"/>
            <a:ext cx="22008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session_004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8043" y="2615184"/>
            <a:ext cx="100870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20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6744" y="2615184"/>
            <a:ext cx="100870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493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5446" y="2615184"/>
            <a:ext cx="14672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F6F3E"/>
                </a:solidFill>
                <a:latin typeface="DejaVu Sans Mono"/>
              </a:rPr>
              <a:t>Locked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2648" y="2615184"/>
            <a:ext cx="49518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Phase Lock 직후 첫 측정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3099816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3182112"/>
            <a:ext cx="22008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session_006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8043" y="3182112"/>
            <a:ext cx="100870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20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6744" y="3182112"/>
            <a:ext cx="100870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493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5446" y="3182112"/>
            <a:ext cx="14672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F6F3E"/>
                </a:solidFill>
                <a:latin typeface="DejaVu Sans Mono"/>
              </a:rPr>
              <a:t>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2648" y="3182112"/>
            <a:ext cx="49518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표류 −0.0015 ms/s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3666744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3749040"/>
            <a:ext cx="22008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session_007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8043" y="3749040"/>
            <a:ext cx="100870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20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6744" y="3749040"/>
            <a:ext cx="100870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DejaVu Sans Mono"/>
              </a:rPr>
              <a:t>505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5446" y="3749040"/>
            <a:ext cx="14672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F6F3E"/>
                </a:solidFill>
                <a:latin typeface="DejaVu Sans Mono"/>
              </a:rPr>
              <a:t>Locked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2648" y="3749040"/>
            <a:ext cx="49518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A1B"/>
                </a:solidFill>
                <a:latin typeface="Noto Sans CJK KR"/>
              </a:rPr>
              <a:t>재녹화. 245개 오탐을 잡아낸 세션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240" y="4233672"/>
            <a:ext cx="10637215" cy="0"/>
          </a:xfrm>
          <a:prstGeom prst="line">
            <a:avLst/>
          </a:prstGeom>
          <a:ln w="7620">
            <a:solidFill>
              <a:srgbClr val="EB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77240" y="459028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E6D6E"/>
                </a:solidFill>
                <a:latin typeface="Noto Sans CJK KR"/>
              </a:rPr>
              <a:t>session_007 은 처음에 '유실 245개'로 나왔다. 원본을 직접 뒤져 실제 유실이 0임을 확인하고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E6D6E"/>
                </a:solidFill>
                <a:latin typeface="Noto Sans CJK KR"/>
              </a:rPr>
              <a:t>검산기의 버그를 고쳤다. 멀쩡한 20초 세션을 버릴 뻔했다.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C7A72"/>
                </a:solidFill>
                <a:latin typeface="DejaVu Sans Mono"/>
              </a:rPr>
              <a:t>미해결 ·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11A1B"/>
                </a:solidFill>
                <a:latin typeface="Noto Sans CJK KR"/>
              </a:rPr>
              <a:t>남은 네 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27048"/>
            <a:ext cx="10637215" cy="1156716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27048"/>
            <a:ext cx="41148" cy="1156716"/>
          </a:xfrm>
          <a:prstGeom prst="rect">
            <a:avLst/>
          </a:prstGeom>
          <a:solidFill>
            <a:srgbClr val="9A5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673351"/>
            <a:ext cx="10088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11A1B"/>
                </a:solidFill>
                <a:latin typeface="Noto Sans CJK KR"/>
              </a:rPr>
              <a:t>GPRMC가 라이다에 도달하지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929384"/>
            <a:ext cx="10088575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ESP32는 정상 송신 중(지연 51 µs, 체크섬 정상)이나 NMEA 필드가 전부 00.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풀업 4.7 kΩ → 1 kΩ 교체 직후이며 라이다 전원 재투입 후 재확인 필요.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위상 동기에는 영향 없음 — GPRMC는 절대 UTC 시각을 넣는 역할.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30068"/>
            <a:ext cx="1063721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30068"/>
            <a:ext cx="41148" cy="960120"/>
          </a:xfrm>
          <a:prstGeom prst="rect">
            <a:avLst/>
          </a:prstGeom>
          <a:solidFill>
            <a:srgbClr val="9A5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976372"/>
            <a:ext cx="10088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11A1B"/>
                </a:solidFill>
                <a:latin typeface="Noto Sans CJK KR"/>
              </a:rPr>
              <a:t>Line1 노출 카운터가 다른 채널에 잡힘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232403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CNT,201,0,359,0,0 — 3번 카메라만 연결인데 채널 2가 센다. 201번 쐈는데 359번.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촬영에는 영향 없고 사후 결합용 offset 확정만 막힌다.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6491"/>
            <a:ext cx="1063721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6491"/>
            <a:ext cx="41148" cy="960120"/>
          </a:xfrm>
          <a:prstGeom prst="rect">
            <a:avLst/>
          </a:prstGeom>
          <a:solidFill>
            <a:srgbClr val="9A5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082796"/>
            <a:ext cx="10088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11A1B"/>
                </a:solidFill>
                <a:latin typeface="Noto Sans CJK KR"/>
              </a:rPr>
              <a:t>두 센서의 시야가 겹치지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338828"/>
            <a:ext cx="100885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카메라가 천장을 향해 라이다 수평면과 공통 시야가 거의 없다.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향을 맞춰야 Phase Lock offset 각도도 정할 수 있다 (현재 0°).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042916"/>
            <a:ext cx="10637215" cy="763524"/>
          </a:xfrm>
          <a:prstGeom prst="rect">
            <a:avLst/>
          </a:prstGeom>
          <a:solidFill>
            <a:srgbClr val="FFFFFF"/>
          </a:solidFill>
          <a:ln w="9525">
            <a:solidFill>
              <a:srgbClr val="DA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042916"/>
            <a:ext cx="41148" cy="763524"/>
          </a:xfrm>
          <a:prstGeom prst="rect">
            <a:avLst/>
          </a:prstGeom>
          <a:solidFill>
            <a:srgbClr val="9A5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5189220"/>
            <a:ext cx="10088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11A1B"/>
                </a:solidFill>
                <a:latin typeface="Noto Sans CJK KR"/>
              </a:rPr>
              <a:t>카메라 노출 부족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5445252"/>
            <a:ext cx="10088575" cy="3063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E6D6E"/>
                </a:solidFill>
                <a:latin typeface="Noto Sans CJK KR"/>
              </a:rPr>
              <a:t>8 ms / 8 dB에서 화소 평균 10.6/255. 노출은 트리거 주기의 80%인 80 ms를 넘길 수 없다.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